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68b02fadd844d8" /><Relationship Type="http://schemas.openxmlformats.org/officeDocument/2006/relationships/extended-properties" Target="/docProps/app.xml" Id="R0db4561baef140fa" /><Relationship Type="http://schemas.openxmlformats.org/officeDocument/2006/relationships/officeDocument" Target="/ppt/presentation.xml" Id="R3584af397be64f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137f66838a4170"/>
  </p:sldMasterIdLst>
  <p:notesMasterIdLst>
    <p:notesMasterId xmlns:r="http://schemas.openxmlformats.org/officeDocument/2006/relationships" r:id="Rb94829f60e814908"/>
  </p:notesMasterIdLst>
  <p:sldIdLst>
    <p:sldId xmlns:r="http://schemas.openxmlformats.org/officeDocument/2006/relationships" id="256" r:id="R277b96beaa7d448e"/>
    <p:sldId xmlns:r="http://schemas.openxmlformats.org/officeDocument/2006/relationships" id="257" r:id="Ra63cedea4f1b4873"/>
    <p:sldId xmlns:r="http://schemas.openxmlformats.org/officeDocument/2006/relationships" id="258" r:id="R0566e5d42fb647dd"/>
    <p:sldId xmlns:r="http://schemas.openxmlformats.org/officeDocument/2006/relationships" id="259" r:id="Rd8a74e1c928247e8"/>
    <p:sldId xmlns:r="http://schemas.openxmlformats.org/officeDocument/2006/relationships" id="260" r:id="Rc10d64e5ed7d486e"/>
    <p:sldId xmlns:r="http://schemas.openxmlformats.org/officeDocument/2006/relationships" id="261" r:id="R9f6a680e1b564c94"/>
    <p:sldId xmlns:r="http://schemas.openxmlformats.org/officeDocument/2006/relationships" id="262" r:id="R58e2e1e50c494113"/>
    <p:sldId xmlns:r="http://schemas.openxmlformats.org/officeDocument/2006/relationships" id="263" r:id="R28e565fee6e84edb"/>
    <p:sldId xmlns:r="http://schemas.openxmlformats.org/officeDocument/2006/relationships" id="264" r:id="Rd4c1737ef2054f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8ace1c08a745a7" /><Relationship Type="http://schemas.openxmlformats.org/officeDocument/2006/relationships/slideMaster" Target="/ppt/slideMasters/slideMaster1.xml" Id="R85137f66838a4170" /><Relationship Type="http://schemas.openxmlformats.org/officeDocument/2006/relationships/notesMaster" Target="/ppt/notesMasters/notesMaster1.xml" Id="Rb94829f60e814908" /><Relationship Type="http://schemas.openxmlformats.org/officeDocument/2006/relationships/presProps" Target="/ppt/presProps.xml" Id="R2df435c253714e30" /><Relationship Type="http://schemas.openxmlformats.org/officeDocument/2006/relationships/tableStyles" Target="/ppt/tableStyles.xml" Id="R7b95f8abc6904307" /><Relationship Type="http://schemas.openxmlformats.org/officeDocument/2006/relationships/slide" Target="/ppt/slides/slide1.xml" Id="R277b96beaa7d448e" /><Relationship Type="http://schemas.openxmlformats.org/officeDocument/2006/relationships/slide" Target="/ppt/slides/slide2.xml" Id="Ra63cedea4f1b4873" /><Relationship Type="http://schemas.openxmlformats.org/officeDocument/2006/relationships/slide" Target="/ppt/slides/slide3.xml" Id="R0566e5d42fb647dd" /><Relationship Type="http://schemas.openxmlformats.org/officeDocument/2006/relationships/slide" Target="/ppt/slides/slide4.xml" Id="Rd8a74e1c928247e8" /><Relationship Type="http://schemas.openxmlformats.org/officeDocument/2006/relationships/slide" Target="/ppt/slides/slide5.xml" Id="Rc10d64e5ed7d486e" /><Relationship Type="http://schemas.openxmlformats.org/officeDocument/2006/relationships/slide" Target="/ppt/slides/slide6.xml" Id="R9f6a680e1b564c94" /><Relationship Type="http://schemas.openxmlformats.org/officeDocument/2006/relationships/slide" Target="/ppt/slides/slide7.xml" Id="R58e2e1e50c494113" /><Relationship Type="http://schemas.openxmlformats.org/officeDocument/2006/relationships/slide" Target="/ppt/slides/slide8.xml" Id="R28e565fee6e84edb" /><Relationship Type="http://schemas.openxmlformats.org/officeDocument/2006/relationships/slide" Target="/ppt/slides/slide9.xml" Id="Rd4c1737ef2054f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6604014acc47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fd3aeff04f4b11" /><Relationship Type="http://schemas.openxmlformats.org/officeDocument/2006/relationships/notesMaster" Target="/ppt/notesMasters/notesMaster1.xml" Id="R37e082ffd5a54b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b4be825ff444c7" /><Relationship Type="http://schemas.openxmlformats.org/officeDocument/2006/relationships/notesMaster" Target="/ppt/notesMasters/notesMaster1.xml" Id="Rf1e4c533822346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5fc377f9774a56" /><Relationship Type="http://schemas.openxmlformats.org/officeDocument/2006/relationships/notesMaster" Target="/ppt/notesMasters/notesMaster1.xml" Id="R1786e076ee0141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40952806514bd1" /><Relationship Type="http://schemas.openxmlformats.org/officeDocument/2006/relationships/notesMaster" Target="/ppt/notesMasters/notesMaster1.xml" Id="R3413b8b057c74d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52466378d4483f" /><Relationship Type="http://schemas.openxmlformats.org/officeDocument/2006/relationships/notesMaster" Target="/ppt/notesMasters/notesMaster1.xml" Id="R4b5f81bf2ccd4c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06b966d19a411e" /><Relationship Type="http://schemas.openxmlformats.org/officeDocument/2006/relationships/notesMaster" Target="/ppt/notesMasters/notesMaster1.xml" Id="R4beb479edc8f40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a4d89e01e84f56" /><Relationship Type="http://schemas.openxmlformats.org/officeDocument/2006/relationships/notesMaster" Target="/ppt/notesMasters/notesMaster1.xml" Id="R1bcee3abe76f41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cbe8a8013f4e2a" /><Relationship Type="http://schemas.openxmlformats.org/officeDocument/2006/relationships/notesMaster" Target="/ppt/notesMasters/notesMaster1.xml" Id="Re5bd821daf1742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18df3186174616" /><Relationship Type="http://schemas.openxmlformats.org/officeDocument/2006/relationships/notesMaster" Target="/ppt/notesMasters/notesMaster1.xml" Id="R5a4c7539079041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20 วินาที</a:t>
            </a:r>
          </a:p>
          <a:p xmlns:a="http://schemas.openxmlformats.org/drawingml/2006/main">
            <a:r>
              <a:t>กล่าวชื่อหัวข้อ สมาชิก และระบุว่างานนี้เป็นแบบจำลองเพื่อการศึกษา ไม่ใช่ SCPPM modem แบบเต็มมาตรฐาน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40 วินาที</a:t>
            </a:r>
          </a:p>
          <a:p xmlns:a="http://schemas.openxmlformats.org/drawingml/2006/main">
            <a:r>
              <a:t>อธิบายว่าจุดประสงค์คือสร้างระบบที่นักศึกษาตรวจสอบแต่ละฟังก์ชันได้ งานยึดค่าหลักจาก CCSDS แต่ลดความซับซ้อนของ SCPPM chain</a:t>
            </a:r>
          </a:p>
          <a:p xmlns:a="http://schemas.openxmlformats.org/drawingml/2006/main">
            <a:r>
              <a:t>ที่มา: CCSDS 141.0-B-2 และ CCSDS 142.0-B-2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45 วินาที</a:t>
            </a:r>
          </a:p>
          <a:p xmlns:a="http://schemas.openxmlformats.org/drawingml/2006/main">
            <a:r>
              <a:t>ไล่จากซ้ายไปขวา ข้อมูล ASCII ถูกแบ่งเป็น payload สร้างเฟรม เข้ารหัส ทำ 4-PPM ผ่านช่องสัญญาณ แล้วตรวจจับและถอดรหัส ฝั่งรับตรวจ CRC ก่อนประกอบข้อความ</a:t>
            </a:r>
          </a:p>
          <a:p xmlns:a="http://schemas.openxmlformats.org/drawingml/2006/main">
            <a:r>
              <a:t>สมมติว่า timing และขอบเขตเฟรมตรงสมบูรณ์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50 วินาที</a:t>
            </a:r>
          </a:p>
          <a:p xmlns:a="http://schemas.openxmlformats.org/drawingml/2006/main">
            <a:r>
              <a:t>เฟรมย่อมี ASM 32 บิต payload 16 บิต และ CRC 32 บิต รวม 80 บิต หลังเติม tail 2 บิตและเข้ารหัส rate 1/3 ได้ 246 บิต ใช้ 123 symbols หรือ 615 slots</a:t>
            </a:r>
          </a:p>
          <a:p xmlns:a="http://schemas.openxmlformats.org/drawingml/2006/main">
            <a:r>
              <a:t>ระบบ coded ใช้เวลา 314.88 microseconds ต่อ payload เทียบกับ 102.4 microseconds ของ uncoded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50 วินาที</a:t>
            </a:r>
          </a:p>
          <a:p xmlns:a="http://schemas.openxmlformats.org/drawingml/2006/main">
            <a:r>
              <a:t>Ns คือ signal photons ต่อ ON pulse, Nb คือ background photons ต่อ slot และ H คือ fading coefficient</a:t>
            </a:r>
          </a:p>
          <a:p xmlns:a="http://schemas.openxmlformats.org/drawingml/2006/main">
            <a:r>
              <a:t>ฮิสโตแกรมแสดงการซ้อนทับของ ON กับ OFF counts ซึ่งทำให้ detector เลือก slot ผิดได้</a:t>
            </a:r>
          </a:p>
          <a:p xmlns:a="http://schemas.openxmlformats.org/drawingml/2006/main">
            <a:r>
              <a:t>Eye diagram เป็นภาพประกอบเพราะแบบจำลองไม่รวม receiver filter, bandwidth หรือ timing jitter</a:t>
            </a:r>
          </a:p>
          <a:p xmlns:a="http://schemas.openxmlformats.org/drawingml/2006/main">
            <a:r>
              <a:t>ที่มา: โปรแกรม Run ID 20261004_193629_060730_report-example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55 วินาที</a:t>
            </a:r>
          </a:p>
          <a:p xmlns:a="http://schemas.openxmlformats.org/drawingml/2006/main">
            <a:r>
              <a:t>เริ่มจากแพ็กเกจ 80 บิต เข้ารหัสเป็น 246 บิต ทำ 4-PPM และรับ photon counts</a:t>
            </a:r>
          </a:p>
          <a:p xmlns:a="http://schemas.openxmlformats.org/drawingml/2006/main">
            <a:r>
              <a:t>ในเฟรมตัวอย่าง detector ทำให้ coded bits ผิด 8 บิต แต่ Viterbi แก้ payload ได้ทั้งหมด CRC ผ่าน และข้อความ HI กลับมาตรงกับต้นฉบับ</a:t>
            </a:r>
          </a:p>
          <a:p xmlns:a="http://schemas.openxmlformats.org/drawingml/2006/main">
            <a:r>
              <a:t>ย้ำว่าผลนี้เป็นตัวอย่างหนึ่งเฟรม ส่วนสถิติใช้ Monte Carlo ในสไลด์ถัดไป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75 วินาที</a:t>
            </a:r>
          </a:p>
          <a:p xmlns:a="http://schemas.openxmlformats.org/drawingml/2006/main">
            <a:r>
              <a:t>กราฟแสดง log10 ของ payload BER เพื่อให้เห็นช่วงค่าหลายลำดับ ที่ Ns=5 ระบบ coded ลด BER ประมาณ 170 เท่าใน Poisson-only และ 6.52 เท่าเมื่อมี turbulence</a:t>
            </a:r>
          </a:p>
          <a:p xmlns:a="http://schemas.openxmlformats.org/drawingml/2006/main">
            <a:r>
              <a:t>การเปรียบเทียบนี้ใช้ signal photons ต่อ ON pulse เท่ากัน ระบบ coded ส่งพัลส์มากกว่าและใช้เวลา 3.075 เท่า จึงไม่ใช่ coding gain ที่ normalize ด้วยพลังงานต่อ information bit</a:t>
            </a:r>
          </a:p>
          <a:p xmlns:a="http://schemas.openxmlformats.org/drawingml/2006/main">
            <a:r>
              <a:t>ที่มา: results/data/performance_results.csv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55 วินาที</a:t>
            </a:r>
          </a:p>
          <a:p xmlns:a="http://schemas.openxmlformats.org/drawingml/2006/main">
            <a:r>
              <a:t>กราฟซ้ายคง Ns=5 และ sigma=0.4 เมื่อ Nb เพิ่ม OFF slots มี photon counts สูงขึ้นและ BER เพิ่ม</a:t>
            </a:r>
          </a:p>
          <a:p xmlns:a="http://schemas.openxmlformats.org/drawingml/2006/main">
            <a:r>
              <a:t>กราฟขวาคง Ns=5 และ Nb=0.1 เมื่อ sigma เพิ่ม การกระจายของ irradiance กว้างขึ้นและเกิด deep fades บ่อยขึ้น</a:t>
            </a:r>
          </a:p>
          <a:p xmlns:a="http://schemas.openxmlformats.org/drawingml/2006/main">
            <a:r>
              <a:t>ผลนี้ยังไม่รวม pointing loss, detector bandwidth และ synchronization errors</a:t>
            </a:r>
          </a:p>
          <a:p xmlns:a="http://schemas.openxmlformats.org/drawingml/2006/main">
            <a:r>
              <a:t>ที่มา: results/figures/ber_vs_background.png และ ber_vs_turbulence.png; ตัวเลขจากรายงานผลจำลอง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 30 วินาที</a:t>
            </a:r>
          </a:p>
          <a:p xmlns:a="http://schemas.openxmlformats.org/drawingml/2006/main">
            <a:r>
              <a:t>สรุปว่างานแสดงกระบวนการครบตั้งแต่ข้อมูลต้นทางจนกู้คืนได้ ECC ช่วยลด BER แต่มี overhead และพลังงานเพิ่ม</a:t>
            </a:r>
          </a:p>
          <a:p xmlns:a="http://schemas.openxmlformats.org/drawingml/2006/main">
            <a:r>
              <a:t>ย้ำว่าเป็น shortened CCSDS-aligned educational model และปิดด้วยแนวทางพัฒนาต่อ</a:t>
            </a:r>
          </a:p>
          <a:p xmlns:a="http://schemas.openxmlformats.org/drawingml/2006/main">
            <a:r>
              <a:t>เอกสารอ้างอิง: CCSDS 141.0-B-2 และ CCSDS 142.0-B-2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23f79a0d314c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dfbfe999ef4463" /><Relationship Type="http://schemas.openxmlformats.org/officeDocument/2006/relationships/slideLayout" Target="/ppt/slideLayouts/slideLayout1.xml" Id="R26b60a64362c4f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b60a64362c4f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42f763bc348d0" /><Relationship Type="http://schemas.openxmlformats.org/officeDocument/2006/relationships/notesSlide" Target="/ppt/notesSlides/notesSlide1.xml" Id="Rd38e0f8b19ea4f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9d577907144cf" /><Relationship Type="http://schemas.openxmlformats.org/officeDocument/2006/relationships/notesSlide" Target="/ppt/notesSlides/notesSlide2.xml" Id="Rc075f1f0ec9245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7dd4006f24304" /><Relationship Type="http://schemas.openxmlformats.org/officeDocument/2006/relationships/notesSlide" Target="/ppt/notesSlides/notesSlide3.xml" Id="Rb08017198bf04e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711c23cd94dd9" /><Relationship Type="http://schemas.openxmlformats.org/officeDocument/2006/relationships/notesSlide" Target="/ppt/notesSlides/notesSlide4.xml" Id="R5553f9bae0674d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925988ef34a7f" /><Relationship Type="http://schemas.openxmlformats.org/officeDocument/2006/relationships/image" Target="/ppt/media/image.png" Id="R695745a893e54e12" /><Relationship Type="http://schemas.openxmlformats.org/officeDocument/2006/relationships/image" Target="/ppt/media/image2.png" Id="Rf73da70eb31e4e90" /><Relationship Type="http://schemas.openxmlformats.org/officeDocument/2006/relationships/notesSlide" Target="/ppt/notesSlides/notesSlide5.xml" Id="R54d8d8a7bab442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876e058144e4f" /><Relationship Type="http://schemas.openxmlformats.org/officeDocument/2006/relationships/image" Target="/ppt/media/image3.png" Id="R94da88293c584322" /><Relationship Type="http://schemas.openxmlformats.org/officeDocument/2006/relationships/notesSlide" Target="/ppt/notesSlides/notesSlide6.xml" Id="R299696ac2a264d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e7d21be0c43ec" /><Relationship Type="http://schemas.openxmlformats.org/officeDocument/2006/relationships/chart" Target="/ppt/slides/charts/chart1.xml" Id="R84935a2d0bc64071" /><Relationship Type="http://schemas.openxmlformats.org/officeDocument/2006/relationships/notesSlide" Target="/ppt/notesSlides/notesSlide7.xml" Id="Rfb517c01a9b642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85fe56385412d" /><Relationship Type="http://schemas.openxmlformats.org/officeDocument/2006/relationships/chart" Target="/ppt/slides/charts/chart2.xml" Id="R6715acb821ec4d6e" /><Relationship Type="http://schemas.openxmlformats.org/officeDocument/2006/relationships/chart" Target="/ppt/slides/charts/chart3.xml" Id="R439ba66bc80d49c1" /><Relationship Type="http://schemas.openxmlformats.org/officeDocument/2006/relationships/notesSlide" Target="/ppt/notesSlides/notesSlide8.xml" Id="Ra4d18972756e45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caf6658c54a94" /><Relationship Type="http://schemas.openxmlformats.org/officeDocument/2006/relationships/notesSlide" Target="/ppt/notesSlides/notesSlide9.xml" Id="R0bf378847ce94cab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Poisson uncoded</c:v>
          </c:tx>
          <c:spPr>
            <a:ln xmlns:a="http://schemas.openxmlformats.org/drawingml/2006/main" w="28575">
              <a:solidFill>
                <a:srgbClr val="17365D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7365D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5</c:v>
              </c:pt>
              <c:pt idx="4">
                <c:v>8</c:v>
              </c:pt>
              <c:pt idx="5">
                <c:v>12</c:v>
              </c:pt>
            </c:numLit>
          </c:cat>
          <c:val>
            <c:numLit>
              <c:formatCode>0.0</c:formatCode>
              <c:ptCount val="6"/>
              <c:pt idx="0">
                <c:v>-0.6652146227664575</c:v>
              </c:pt>
              <c:pt idx="1">
                <c:v>-1.034780654648798</c:v>
              </c:pt>
              <c:pt idx="2">
                <c:v>-1.4083233578583156</c:v>
              </c:pt>
              <c:pt idx="3">
                <c:v>-2.1669326117188117</c:v>
              </c:pt>
              <c:pt idx="4">
                <c:v>-3.3872161432802645</c:v>
              </c:pt>
              <c:pt idx="5">
                <c:v>-4.789146634685107</c:v>
              </c:pt>
            </c:numLit>
          </c:val>
        </c:ser>
        <c:ser>
          <c:idx val="1"/>
          <c:order val="1"/>
          <c:tx>
            <c:v>Poisson coded</c:v>
          </c:tx>
          <c:spPr>
            <a:ln xmlns:a="http://schemas.openxmlformats.org/drawingml/2006/main" w="28575">
              <a:solidFill>
                <a:srgbClr val="2F75B5"/>
              </a:solidFill>
            </a:ln>
          </c:spPr>
          <c:marker>
            <c:symbol val="diamond"/>
            <c:size val="7"/>
            <c:spPr>
              <a:solidFill xmlns:a="http://schemas.openxmlformats.org/drawingml/2006/main">
                <a:srgbClr val="2F75B5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5</c:v>
              </c:pt>
              <c:pt idx="4">
                <c:v>8</c:v>
              </c:pt>
              <c:pt idx="5">
                <c:v>12</c:v>
              </c:pt>
            </c:numLit>
          </c:cat>
          <c:val>
            <c:numLit>
              <c:formatCode>0.0</c:formatCode>
              <c:ptCount val="6"/>
              <c:pt idx="0">
                <c:v>-0.5862414508636407</c:v>
              </c:pt>
              <c:pt idx="1">
                <c:v>-1.4410215789050005</c:v>
              </c:pt>
              <c:pt idx="2">
                <c:v>-2.4471797466092005</c:v>
              </c:pt>
              <c:pt idx="3">
                <c:v>-4.3979400086720375</c:v>
              </c:pt>
              <c:pt idx="4">
                <c:v>-5.425968732272281</c:v>
              </c:pt>
              <c:pt idx="5">
                <c:v>-5.425968732272281</c:v>
              </c:pt>
            </c:numLit>
          </c:val>
        </c:ser>
        <c:ser>
          <c:idx val="2"/>
          <c:order val="2"/>
          <c:tx>
            <c:v>Turbulence uncoded</c:v>
          </c:tx>
          <c:spPr>
            <a:ln xmlns:a="http://schemas.openxmlformats.org/drawingml/2006/main" w="28575">
              <a:solidFill>
                <a:srgbClr val="D55E00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D55E00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5</c:v>
              </c:pt>
              <c:pt idx="4">
                <c:v>8</c:v>
              </c:pt>
              <c:pt idx="5">
                <c:v>12</c:v>
              </c:pt>
            </c:numLit>
          </c:cat>
          <c:val>
            <c:numLit>
              <c:formatCode>0.0</c:formatCode>
              <c:ptCount val="6"/>
              <c:pt idx="0">
                <c:v>-0.6417248033334851</c:v>
              </c:pt>
              <c:pt idx="1">
                <c:v>-0.9498958742123614</c:v>
              </c:pt>
              <c:pt idx="2">
                <c:v>-1.2381660935538619</c:v>
              </c:pt>
              <c:pt idx="3">
                <c:v>-1.7371634373828473</c:v>
              </c:pt>
              <c:pt idx="4">
                <c:v>-2.404503778174426</c:v>
              </c:pt>
              <c:pt idx="5">
                <c:v>-3.163517642541852</c:v>
              </c:pt>
            </c:numLit>
          </c:val>
        </c:ser>
        <c:ser>
          <c:idx val="3"/>
          <c:order val="3"/>
          <c:tx>
            <c:v>Turbulence coded</c:v>
          </c:tx>
          <c:spPr>
            <a:ln xmlns:a="http://schemas.openxmlformats.org/drawingml/2006/main" w="28575">
              <a:solidFill>
                <a:srgbClr val="0F8B8D"/>
              </a:solidFill>
            </a:ln>
          </c:spPr>
          <c:marker>
            <c:symbol val="diamond"/>
            <c:size val="7"/>
            <c:spPr>
              <a:solidFill xmlns:a="http://schemas.openxmlformats.org/drawingml/2006/main">
                <a:srgbClr val="0F8B8D"/>
              </a:solidFill>
            </c:spPr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5</c:v>
              </c:pt>
              <c:pt idx="4">
                <c:v>8</c:v>
              </c:pt>
              <c:pt idx="5">
                <c:v>12</c:v>
              </c:pt>
            </c:numLit>
          </c:cat>
          <c:val>
            <c:numLit>
              <c:formatCode>0.0</c:formatCode>
              <c:ptCount val="6"/>
              <c:pt idx="0">
                <c:v>-0.5675077334013028</c:v>
              </c:pt>
              <c:pt idx="1">
                <c:v>-1.0704469746364997</c:v>
              </c:pt>
              <c:pt idx="2">
                <c:v>-1.5938431897382719</c:v>
              </c:pt>
              <c:pt idx="3">
                <c:v>-2.55129368009492</c:v>
              </c:pt>
              <c:pt idx="4">
                <c:v>-3.7417219847569685</c:v>
              </c:pt>
              <c:pt idx="5">
                <c:v>-4.903089986991944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arabun"/>
                  <a:ea typeface="Sarabun"/>
                  <a:cs typeface="Sarabu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arabun"/>
                    <a:ea typeface="Sarabun"/>
                    <a:cs typeface="Sarabun"/>
                  </a:rPr>
                  <a:t>Signal photons per ON pulse, Ns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arabun"/>
                  <a:ea typeface="Sarabun"/>
                  <a:cs typeface="Sarabu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</a:p>
        </c:txPr>
        <c:crossAx val="48672768"/>
      </c:catAx>
      <c:valAx>
        <c:axId val="48672768"/>
        <c:scaling>
          <c:orientation val="minMax"/>
          <c:max val="0"/>
          <c:min val="-6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arabun"/>
                    <a:ea typeface="Sarabun"/>
                    <a:cs typeface="Sarabun"/>
                  </a:rPr>
                  <a:t>log10(Payload BER)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arabun"/>
                  <a:ea typeface="Sarabun"/>
                  <a:cs typeface="Sarabu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573"/>
              </a:solidFill>
              <a:latin typeface="Sarabun"/>
              <a:ea typeface="Sarabun"/>
              <a:cs typeface="Sarabu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Payload BER</c:v>
          </c:tx>
          <c:spPr>
            <a:ln xmlns:a="http://schemas.openxmlformats.org/drawingml/2006/main" w="38100">
              <a:solidFill>
                <a:srgbClr val="D55E00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D55E00"/>
              </a:solidFill>
            </c:spPr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0.01</c:v>
              </c:pt>
              <c:pt idx="2">
                <c:v>0.1</c:v>
              </c:pt>
              <c:pt idx="3">
                <c:v>0.5</c:v>
              </c:pt>
              <c:pt idx="4">
                <c:v>1.0</c:v>
              </c:pt>
            </c:numLit>
          </c:cat>
          <c:val>
            <c:numLit>
              <c:formatCode>0.00</c:formatCode>
              <c:ptCount val="5"/>
              <c:pt idx="0">
                <c:v>0.011295</c:v>
              </c:pt>
              <c:pt idx="1">
                <c:v>0.0123025</c:v>
              </c:pt>
              <c:pt idx="2">
                <c:v>0.0180175</c:v>
              </c:pt>
              <c:pt idx="3">
                <c:v>0.0376325</c:v>
              </c:pt>
              <c:pt idx="4">
                <c:v>0.05865875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arabun"/>
                  <a:ea typeface="Sarabun"/>
                  <a:cs typeface="Sarabu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arabun"/>
                    <a:ea typeface="Sarabun"/>
                    <a:cs typeface="Sarabun"/>
                  </a:rPr>
                  <a:t>Background photons per slot, Nb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arabun"/>
                  <a:ea typeface="Sarabun"/>
                  <a:cs typeface="Sarabu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</a:p>
        </c:txPr>
        <c:crossAx val="48672768"/>
      </c:catAx>
      <c:valAx>
        <c:axId val="48672768"/>
        <c:scaling>
          <c:orientation val="minMax"/>
          <c:max val="0.0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arabun"/>
                    <a:ea typeface="Sarabun"/>
                    <a:cs typeface="Sarabun"/>
                  </a:rPr>
                  <a:t>Payload 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arabun"/>
                  <a:ea typeface="Sarabun"/>
                  <a:cs typeface="Sarabun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</a:p>
        </c:txPr>
        <c:crossAx val="48650112"/>
        <c:crossBetween val="between"/>
        <c:majorUnit val="0.0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Payload BER</c:v>
          </c:tx>
          <c:spPr>
            <a:ln xmlns:a="http://schemas.openxmlformats.org/drawingml/2006/main" w="38100">
              <a:solidFill>
                <a:srgbClr val="0F8B8D"/>
              </a:solidFill>
            </a:ln>
          </c:spPr>
          <c:marker>
            <c:symbol val="diamond"/>
            <c:size val="8"/>
            <c:spPr>
              <a:solidFill xmlns:a="http://schemas.openxmlformats.org/drawingml/2006/main">
                <a:srgbClr val="0F8B8D"/>
              </a:solidFill>
            </c:spPr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0.2</c:v>
              </c:pt>
              <c:pt idx="2">
                <c:v>0.4</c:v>
              </c:pt>
              <c:pt idx="3">
                <c:v>0.6</c:v>
              </c:pt>
              <c:pt idx="4">
                <c:v>0.8</c:v>
              </c:pt>
            </c:numLit>
          </c:cat>
          <c:val>
            <c:numLit>
              <c:formatCode>0.00</c:formatCode>
              <c:ptCount val="5"/>
              <c:pt idx="0">
                <c:v>0.0065975</c:v>
              </c:pt>
              <c:pt idx="1">
                <c:v>0.00933875</c:v>
              </c:pt>
              <c:pt idx="2">
                <c:v>0.0175025</c:v>
              </c:pt>
              <c:pt idx="3">
                <c:v>0.03353</c:v>
              </c:pt>
              <c:pt idx="4">
                <c:v>0.05593875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arabun"/>
                  <a:ea typeface="Sarabun"/>
                  <a:cs typeface="Sarabu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arabun"/>
                    <a:ea typeface="Sarabun"/>
                    <a:cs typeface="Sarabun"/>
                  </a:rPr>
                  <a:t>Log-normal sigma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arabun"/>
                  <a:ea typeface="Sarabun"/>
                  <a:cs typeface="Sarabu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</a:p>
        </c:txPr>
        <c:crossAx val="48672768"/>
      </c:catAx>
      <c:valAx>
        <c:axId val="48672768"/>
        <c:scaling>
          <c:orientation val="minMax"/>
          <c:max val="0.0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arabun"/>
                    <a:ea typeface="Sarabun"/>
                    <a:cs typeface="Sarabun"/>
                  </a:rPr>
                  <a:t>Payload 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arabun"/>
                  <a:ea typeface="Sarabun"/>
                  <a:cs typeface="Sarabun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</a:p>
        </c:txPr>
        <c:crossAx val="48650112"/>
        <c:crossBetween val="between"/>
        <c:majorUnit val="0.0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2B8AD-333B-4B68-92F3-1E21AB16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EBC1E-11B8-4591-9AF0-5EDAE2F1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66800"/>
            <a:ext cx="933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arabun"/>
                <a:ea typeface="Sarabun"/>
                <a:cs typeface="Sarabun"/>
              </a:defRPr>
            </a:pPr>
            <a:r>
              <a:rPr sz="3600" b="1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การจำลองระบบสื่อสารเชิงแสง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arabun"/>
                <a:ea typeface="Sarabun"/>
                <a:cs typeface="Sarabun"/>
              </a:defRPr>
            </a:pPr>
            <a:r>
              <a:rPr sz="3600" b="1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ตามแนวทาง CCSDS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301C7-D507-432E-8D1B-78D5DB02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DE8F5"/>
                </a:solidFill>
                <a:latin typeface="Sarabun"/>
                <a:ea typeface="Sarabun"/>
                <a:cs typeface="Sarabun"/>
              </a:defRPr>
            </a:pPr>
            <a:r>
              <a:rPr sz="2250" b="0">
                <a:solidFill>
                  <a:srgbClr val="DDE8F5"/>
                </a:solidFill>
                <a:latin typeface="Sarabun"/>
                <a:ea typeface="Sarabun"/>
                <a:cs typeface="Sarabun"/>
              </a:rPr>
              <a:t>Convolutional Coding and 4-PPM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0EE2B-ADC1-4A8D-A15F-E6F8D77B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8CADF"/>
                </a:solidFill>
                <a:latin typeface="Sarabun"/>
                <a:ea typeface="Sarabun"/>
                <a:cs typeface="Sarabun"/>
              </a:defRPr>
            </a:pPr>
            <a:r>
              <a:rPr sz="1575" b="0">
                <a:solidFill>
                  <a:srgbClr val="B8CADF"/>
                </a:solidFill>
                <a:latin typeface="Sarabun"/>
                <a:ea typeface="Sarabun"/>
                <a:cs typeface="Sarabun"/>
              </a:rPr>
              <a:t>Shortened CCSDS-aligned educational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7DE1E-CFA0-4381-8CFA-3D6E478A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19550"/>
            <a:ext cx="68580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8FB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7B5FC-31B8-4B6A-A0E8-92708E4A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053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arabun"/>
                <a:ea typeface="Sarabun"/>
                <a:cs typeface="Sarabun"/>
              </a:defRPr>
            </a:pPr>
            <a:r>
              <a:rPr sz="15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ชื่อวิชา  ________________________________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DB8E8-8966-47A2-94E4-F3835190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863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arabun"/>
                <a:ea typeface="Sarabun"/>
                <a:cs typeface="Sarabun"/>
              </a:defRPr>
            </a:pPr>
            <a:r>
              <a:rPr sz="15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สมาชิก  __________________________________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27A60-89BD-4F2A-B899-EB06710E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673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arabun"/>
                <a:ea typeface="Sarabun"/>
                <a:cs typeface="Sarabun"/>
              </a:defRPr>
            </a:pPr>
            <a:r>
              <a:rPr sz="15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ภาคการศึกษา  __________   ปีการศึกษา  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1B245-B40F-4036-B961-8712F25A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115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8CADF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B8CADF"/>
                </a:solidFill>
                <a:latin typeface="Sarabun"/>
                <a:ea typeface="Sarabun"/>
                <a:cs typeface="Sarabun"/>
              </a:rPr>
              <a:t>Mini-Project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9284439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1A61C-9E9C-4696-8D3A-52F222C2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FE8E5-8E90-4C1F-B63A-179FDB49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2625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เป้าหมายและขอบเขต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5CB1C-B5BD-4511-A9CC-2373F286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1350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Educational scope and implementation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E6050-066D-4F2C-80F5-E08CB27E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1950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เป้าหมาย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B2CF9-1BAC-4239-850A-F87D9C11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6291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  <a:r>
              <a:rPr sz="2025" b="0">
                <a:solidFill>
                  <a:srgbClr val="1F2937"/>
                </a:solidFill>
                <a:latin typeface="Sarabun"/>
                <a:ea typeface="Sarabun"/>
                <a:cs typeface="Sarabun"/>
              </a:rPr>
              <a:t>จำลองเส้นทางข้อมูลตั้งแต่ ASCII จนกู้คืนข้อความ พร้อมวัด BER และ FER ภายใต้ photon noise และ turbulence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19A99-5148-4160-81D3-B0F4C266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219200"/>
            <a:ext cx="9525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BE1C2-32DB-48F7-B1D8-1094161C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19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1950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ส่วนที่นำมาจำลอง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C3BE7-5940-478E-BB11-2732DCC4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50482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650" b="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  <a:r>
              <a:rPr sz="1650" b="0">
                <a:solidFill>
                  <a:srgbClr val="1F2937"/>
                </a:solidFill>
                <a:latin typeface="Sarabun"/>
                <a:ea typeface="Sarabun"/>
                <a:cs typeface="Sarabun"/>
              </a:rPr>
              <a:t>ASM และ optical CRC-32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650" b="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  <a:r>
              <a:rPr sz="1650" b="0">
                <a:solidFill>
                  <a:srgbClr val="1F2937"/>
                </a:solidFill>
                <a:latin typeface="Sarabun"/>
                <a:ea typeface="Sarabun"/>
                <a:cs typeface="Sarabun"/>
              </a:rPr>
              <a:t>Convolutional code rate 1/3 [5,7,7]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650" b="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  <a:r>
              <a:rPr sz="1650" b="0">
                <a:solidFill>
                  <a:srgbClr val="1F2937"/>
                </a:solidFill>
                <a:latin typeface="Sarabun"/>
                <a:ea typeface="Sarabun"/>
                <a:cs typeface="Sarabun"/>
              </a:rPr>
              <a:t>4-PPM พร้อม guard slot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650" b="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  <a:r>
              <a:rPr sz="1650" b="0">
                <a:solidFill>
                  <a:srgbClr val="1F2937"/>
                </a:solidFill>
                <a:latin typeface="Sarabun"/>
                <a:ea typeface="Sarabun"/>
                <a:cs typeface="Sarabun"/>
              </a:rPr>
              <a:t>Poisson photon counting และ log-normal turbulence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650" b="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  <a:r>
              <a:rPr sz="1650" b="0">
                <a:solidFill>
                  <a:srgbClr val="1F2937"/>
                </a:solidFill>
                <a:latin typeface="Sarabun"/>
                <a:ea typeface="Sarabun"/>
                <a:cs typeface="Sarabun"/>
              </a:rPr>
              <a:t>Maximum-count detector และ hard Viterbi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A4D4B-428F-4C28-9211-8C340024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100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55E00"/>
                </a:solidFill>
                <a:latin typeface="Sarabun"/>
                <a:ea typeface="Sarabun"/>
                <a:cs typeface="Sarabun"/>
              </a:defRPr>
            </a:pPr>
            <a:r>
              <a:rPr sz="1800" b="1">
                <a:solidFill>
                  <a:srgbClr val="D55E00"/>
                </a:solidFill>
                <a:latin typeface="Sarabun"/>
                <a:ea typeface="Sarabun"/>
                <a:cs typeface="Sarabun"/>
              </a:rPr>
              <a:t>ส่วนที่ยังไม่จำลอง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31ABE-F0FF-4B86-A332-7D302A64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29150"/>
            <a:ext cx="4857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1500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Pseudo-randomizer, SCPPM interleaver, accumulator, iterative soft decoder, synchronization acquisition และ physical link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1B3FCC-9C98-4D04-AB8F-648672C4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8A7AB-B528-4C46-A0A4-8D0E72E6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975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CCSDS Optical Space Communication Mini-Project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A3F3B-249F-4D2D-A677-6D1D369F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975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480025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C3D8CA-2AD8-47E9-A13A-2438832A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C6F4C-C9ED-4673-BE6A-E88A4B59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2625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ระบบที่นำมาจำลอง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C6625-69D9-45A2-B631-E5A085B0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1350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Editable transmitter, channel and receiver chain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B8C27-2AEE-4479-BD64-474351AE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257300" cy="14097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9050">
            <a:solidFill>
              <a:srgbClr val="17365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76D0C-2352-44F3-8011-6EEC2DB3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1650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ASCII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7DF2C-72B4-409F-8A2A-19E1E769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1F2937"/>
                </a:solidFill>
                <a:latin typeface="Sarabun"/>
                <a:ea typeface="Sarabun"/>
                <a:cs typeface="Sarabun"/>
              </a:rPr>
              <a:t>16-bit payload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64168-E4B9-42DE-93DF-7489DE6E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2890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132BF-FD5C-4CE3-890B-1C1E6C35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76450"/>
            <a:ext cx="1257300" cy="14097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9050">
            <a:solidFill>
              <a:srgbClr val="17365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F643D-4BCB-45D6-A792-FDCBDFC4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050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1650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Frame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9BEBD-536F-4D35-BE30-6F3A139D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241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1F2937"/>
                </a:solidFill>
                <a:latin typeface="Sarabun"/>
                <a:ea typeface="Sarabun"/>
                <a:cs typeface="Sarabun"/>
              </a:rPr>
              <a:t>ASM + data + CRC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69257-B19E-4F1C-B19D-D024F5AD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2890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2ECC0-57FD-44F6-B23A-93D88B98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76450"/>
            <a:ext cx="1257300" cy="14097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9050">
            <a:solidFill>
              <a:srgbClr val="17365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1FBA3-E71D-4BBD-B3F5-43B5CD69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1650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ECC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84F18-5DBA-44C0-827B-A64532B5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241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1F2937"/>
                </a:solidFill>
                <a:latin typeface="Sarabun"/>
                <a:ea typeface="Sarabun"/>
                <a:cs typeface="Sarabun"/>
              </a:rPr>
              <a:t>r=1/3 [5,7,7]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7C5EF9-C7BE-40C9-B812-476EE453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2890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1C3DD-54C8-4EC3-8BC7-63704898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76450"/>
            <a:ext cx="1257300" cy="14097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9050">
            <a:solidFill>
              <a:srgbClr val="17365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A1112-32B3-4A07-86DA-FB181ACE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050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1650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4-PPM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A728BB-CD41-4E3C-94BB-5DB7F84B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241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1F2937"/>
                </a:solidFill>
                <a:latin typeface="Sarabun"/>
                <a:ea typeface="Sarabun"/>
                <a:cs typeface="Sarabun"/>
              </a:rPr>
              <a:t>+ guard slot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E273DA-B0FB-40C7-AD9C-32FB9828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B9BE6B-AED4-4375-A3EB-12B08BF4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1257300" cy="14097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19050">
            <a:solidFill>
              <a:srgbClr val="17365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E17476-7193-4AFD-8A10-EB5894D3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050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1650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Channel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8A96B9-D458-498D-A8E7-7AFA065A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1F2937"/>
                </a:solidFill>
                <a:latin typeface="Sarabun"/>
                <a:ea typeface="Sarabun"/>
                <a:cs typeface="Sarabun"/>
              </a:rPr>
              <a:t>Poisson + lognormal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13800-E8F7-442F-92E7-2FFFD118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2890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7ED601-4AEF-4F7E-AC3A-18340655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76450"/>
            <a:ext cx="1257300" cy="14097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9050">
            <a:solidFill>
              <a:srgbClr val="17365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9294BD-3944-41F0-BA03-9B7BB093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050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1650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Detector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D541CA-CC03-4F87-9A4C-AA36F793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241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1F2937"/>
                </a:solidFill>
                <a:latin typeface="Sarabun"/>
                <a:ea typeface="Sarabun"/>
                <a:cs typeface="Sarabun"/>
              </a:rPr>
              <a:t>max count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D17FF0-C5F8-4C20-B8BB-76E19A45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2890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0A569-A478-43DD-B320-A63A0512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76450"/>
            <a:ext cx="1257300" cy="14097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9050">
            <a:solidFill>
              <a:srgbClr val="17365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4A3049-A078-473D-A216-72E5DF8F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050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1650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Viterbi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F4FEC6-68AC-47D6-9E39-02483E82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241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1F2937"/>
                </a:solidFill>
                <a:latin typeface="Sarabun"/>
                <a:ea typeface="Sarabun"/>
                <a:cs typeface="Sarabun"/>
              </a:rPr>
              <a:t>hard decision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7EDD40-C91D-4B4D-86BE-8F82DD70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62890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FF3FB9-C3C4-4EC0-8238-D795F036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76450"/>
            <a:ext cx="1257300" cy="14097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9050">
            <a:solidFill>
              <a:srgbClr val="17365D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947DAD-AAFA-4F78-A34B-EBC5FB39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3050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1650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CRC/ASCII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B690F7-C9E4-4256-B984-DE72076E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241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  <a:r>
              <a:rPr sz="1275" b="0">
                <a:solidFill>
                  <a:srgbClr val="1F2937"/>
                </a:solidFill>
                <a:latin typeface="Sarabun"/>
                <a:ea typeface="Sarabun"/>
                <a:cs typeface="Sarabun"/>
              </a:rPr>
              <a:t>recovery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06B170-4A64-4EEC-AD20-23CDF413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5B5"/>
                </a:solidFill>
                <a:latin typeface="Sarabun"/>
                <a:ea typeface="Sarabun"/>
                <a:cs typeface="Sarabun"/>
              </a:defRPr>
            </a:pPr>
            <a:r>
              <a:rPr sz="1500" b="1">
                <a:solidFill>
                  <a:srgbClr val="2F75B5"/>
                </a:solidFill>
                <a:latin typeface="Sarabun"/>
                <a:ea typeface="Sarabun"/>
                <a:cs typeface="Sarabun"/>
              </a:rPr>
              <a:t>Transmitter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968E31-C685-4C4D-B1C4-EA565832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143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75B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5FCECD-E283-4CAF-A38F-DBCB9C2C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719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5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6A23C"/>
                </a:solidFill>
                <a:latin typeface="Sarabun"/>
                <a:ea typeface="Sarabun"/>
                <a:cs typeface="Sarabun"/>
              </a:defRPr>
            </a:pPr>
            <a:r>
              <a:rPr sz="1425" b="1">
                <a:solidFill>
                  <a:srgbClr val="E6A23C"/>
                </a:solidFill>
                <a:latin typeface="Sarabun"/>
                <a:ea typeface="Sarabun"/>
                <a:cs typeface="Sarabun"/>
              </a:rPr>
              <a:t>Optical channel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C1310A-D2F7-4F08-8E3F-2CA22D26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7195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A23C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1E974E-816E-4EB0-B317-372988F5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7190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8B8D"/>
                </a:solidFill>
                <a:latin typeface="Sarabun"/>
                <a:ea typeface="Sarabun"/>
                <a:cs typeface="Sarabun"/>
              </a:defRPr>
            </a:pPr>
            <a:r>
              <a:rPr sz="1500" b="1">
                <a:solidFill>
                  <a:srgbClr val="0F8B8D"/>
                </a:solidFill>
                <a:latin typeface="Sarabun"/>
                <a:ea typeface="Sarabun"/>
                <a:cs typeface="Sarabun"/>
              </a:rPr>
              <a:t>Receiver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9B709F-CFF8-456A-93FD-B9B31A03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71950"/>
            <a:ext cx="3486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8B8D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61B181-5ACB-4B4A-8957-9B222768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53000"/>
            <a:ext cx="468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7DEE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1875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Timing และ frame boundary สมบูรณ์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2651F3-84EB-4179-BFED-E5D932BA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581A63-82A7-4747-969F-EC6ABBED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975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CCSDS Optical Space Communication Mini-Project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608B0C-6093-45A8-9A8A-51F63CE0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975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375025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435A6-5C4C-4293-B85C-CDF67FFE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CCE7C-9AD1-4226-B86A-00B3898B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2625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โครงสร้างเฟรมและพารามิเตอร์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919DC-0A73-4F1F-900E-9E704854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1350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Frame size, ECC overhead and timing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3A230-C514-4CBD-B072-02E540AD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262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55634-DB33-46C0-8229-0CAA44B7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251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arabun"/>
                <a:ea typeface="Sarabun"/>
                <a:cs typeface="Sarabun"/>
              </a:defRPr>
            </a:pPr>
            <a:r>
              <a:rPr sz="1425" b="1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ASM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arabun"/>
                <a:ea typeface="Sarabun"/>
                <a:cs typeface="Sarabun"/>
              </a:defRPr>
            </a:pPr>
            <a:r>
              <a:rPr sz="1425" b="1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32 bits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DCD1F-7BE2-4B9D-AC6F-FDED5B37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200150"/>
            <a:ext cx="1314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4CEA0F-14FB-4800-8430-748C4569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23825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arabun"/>
                <a:ea typeface="Sarabun"/>
                <a:cs typeface="Sarabun"/>
              </a:defRPr>
            </a:pPr>
            <a:r>
              <a:rPr sz="1425" b="1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Payload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arabun"/>
                <a:ea typeface="Sarabun"/>
                <a:cs typeface="Sarabun"/>
              </a:defRPr>
            </a:pPr>
            <a:r>
              <a:rPr sz="1425" b="1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16 bits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DD136-309C-4A42-980E-91A6EF42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200150"/>
            <a:ext cx="2628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1D571-9C1F-471C-98C6-A06D1D0C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238250"/>
            <a:ext cx="251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arabun"/>
                <a:ea typeface="Sarabun"/>
                <a:cs typeface="Sarabun"/>
              </a:defRPr>
            </a:pPr>
            <a:r>
              <a:rPr sz="1425" b="1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CRC-32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arabun"/>
                <a:ea typeface="Sarabun"/>
                <a:cs typeface="Sarabun"/>
              </a:defRPr>
            </a:pPr>
            <a:r>
              <a:rPr sz="1425" b="1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32 bits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BCE5D-2306-4B19-A901-7A621BAF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6682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1800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80-bit packet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A44F88-8380-4117-AFF5-4C41D494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2668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1500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+ 2 zero tail bits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723900" y="2171700"/>
          <a:ext xmlns:a="http://schemas.openxmlformats.org/drawingml/2006/main" cx="107442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095750"/>
                <a:gridCol w="3219450"/>
              </a:tblGrid>
              <a:tr h="48169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arabun"/>
                          <a:ea typeface="Sarabun"/>
                          <a:cs typeface="Sarabun"/>
                        </a:rPr>
                        <a:t>Parameter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arabun"/>
                          <a:ea typeface="Sarabun"/>
                          <a:cs typeface="Sarabun"/>
                        </a:rPr>
                        <a:t>ค่าที่ใช้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arabun"/>
                          <a:ea typeface="Sarabun"/>
                          <a:cs typeface="Sarabun"/>
                        </a:rPr>
                        <a:t>สถานะ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48169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Sarabun"/>
                          <a:ea typeface="Sarabun"/>
                          <a:cs typeface="Sarabun"/>
                        </a:rPr>
                        <a:t>Payload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Sarabun"/>
                          <a:ea typeface="Sarabun"/>
                          <a:cs typeface="Sarabun"/>
                        </a:rPr>
                        <a:t>16 bits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Sarabun"/>
                          <a:ea typeface="Sarabun"/>
                          <a:cs typeface="Sarabun"/>
                        </a:rPr>
                        <a:t>project</a:t>
                      </a:r>
                    </a:p>
                  </a:txBody>
                  <a:tcPr marL="95250" marR="95250" marT="57150" marB="57150"/>
                </a:tc>
              </a:tr>
              <a:tr h="48169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Sarabun"/>
                          <a:ea typeface="Sarabun"/>
                          <a:cs typeface="Sarabun"/>
                        </a:rPr>
                        <a:t>Convolutional ECC</a:t>
                      </a:r>
                    </a:p>
                  </a:txBody>
                  <a:tcPr marL="95250" marR="95250" marT="57150" marB="5715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Sarabun"/>
                          <a:ea typeface="Sarabun"/>
                          <a:cs typeface="Sarabun"/>
                        </a:rPr>
                        <a:t>rate 1/3 [5,7,7]</a:t>
                      </a:r>
                    </a:p>
                  </a:txBody>
                  <a:tcPr marL="95250" marR="95250" marT="57150" marB="5715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Sarabun"/>
                          <a:ea typeface="Sarabun"/>
                          <a:cs typeface="Sarabun"/>
                        </a:rPr>
                        <a:t>CCSDS component</a:t>
                      </a:r>
                    </a:p>
                  </a:txBody>
                  <a:tcPr marL="95250" marR="95250" marT="57150" marB="57150">
                    <a:solidFill>
                      <a:srgbClr val="F6F8FB"/>
                    </a:solidFill>
                  </a:tcPr>
                </a:tc>
              </a:tr>
              <a:tr h="48169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Sarabun"/>
                          <a:ea typeface="Sarabun"/>
                          <a:cs typeface="Sarabun"/>
                        </a:rPr>
                        <a:t>Coded frame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Sarabun"/>
                          <a:ea typeface="Sarabun"/>
                          <a:cs typeface="Sarabun"/>
                        </a:rPr>
                        <a:t>246 bits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Sarabun"/>
                          <a:ea typeface="Sarabun"/>
                          <a:cs typeface="Sarabun"/>
                        </a:rPr>
                        <a:t>(80+2)×3</a:t>
                      </a:r>
                    </a:p>
                  </a:txBody>
                  <a:tcPr marL="95250" marR="95250" marT="57150" marB="57150"/>
                </a:tc>
              </a:tr>
              <a:tr h="48169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Sarabun"/>
                          <a:ea typeface="Sarabun"/>
                          <a:cs typeface="Sarabun"/>
                        </a:rPr>
                        <a:t>4-PPM</a:t>
                      </a:r>
                    </a:p>
                  </a:txBody>
                  <a:tcPr marL="95250" marR="95250" marT="57150" marB="5715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Sarabun"/>
                          <a:ea typeface="Sarabun"/>
                          <a:cs typeface="Sarabun"/>
                        </a:rPr>
                        <a:t>2 bits/symbol + 1 guard</a:t>
                      </a:r>
                    </a:p>
                  </a:txBody>
                  <a:tcPr marL="95250" marR="95250" marT="57150" marB="5715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Sarabun"/>
                          <a:ea typeface="Sarabun"/>
                          <a:cs typeface="Sarabun"/>
                        </a:rPr>
                        <a:t>CCSDS</a:t>
                      </a:r>
                    </a:p>
                  </a:txBody>
                  <a:tcPr marL="95250" marR="95250" marT="57150" marB="57150">
                    <a:solidFill>
                      <a:srgbClr val="F6F8FB"/>
                    </a:solidFill>
                  </a:tcPr>
                </a:tc>
              </a:tr>
              <a:tr h="48169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Sarabun"/>
                          <a:ea typeface="Sarabun"/>
                          <a:cs typeface="Sarabun"/>
                        </a:rPr>
                        <a:t>Slot width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Sarabun"/>
                          <a:ea typeface="Sarabun"/>
                          <a:cs typeface="Sarabun"/>
                        </a:rPr>
                        <a:t>512 ns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Sarabun"/>
                          <a:ea typeface="Sarabun"/>
                          <a:cs typeface="Sarabun"/>
                        </a:rPr>
                        <a:t>selected CCSDS value</a:t>
                      </a:r>
                    </a:p>
                  </a:txBody>
                  <a:tcPr marL="95250" marR="95250" marT="57150" marB="57150"/>
                </a:tc>
              </a:tr>
              <a:tr h="48169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Sarabun"/>
                          <a:ea typeface="Sarabun"/>
                          <a:cs typeface="Sarabun"/>
                        </a:rPr>
                        <a:t>Coded duration</a:t>
                      </a:r>
                    </a:p>
                  </a:txBody>
                  <a:tcPr marL="95250" marR="95250" marT="57150" marB="5715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Sarabun"/>
                          <a:ea typeface="Sarabun"/>
                          <a:cs typeface="Sarabun"/>
                        </a:rPr>
                        <a:t>314.88 µs</a:t>
                      </a:r>
                    </a:p>
                  </a:txBody>
                  <a:tcPr marL="95250" marR="95250" marT="57150" marB="57150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  <a:latin typeface="Sarabun"/>
                          <a:ea typeface="Sarabun"/>
                          <a:cs typeface="Sarabun"/>
                        </a:rPr>
                        <a:t>615 slots</a:t>
                      </a:r>
                    </a:p>
                  </a:txBody>
                  <a:tcPr marL="95250" marR="95250" marT="57150" marB="57150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87CD0-5325-4A84-8303-A1786CE7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15000"/>
            <a:ext cx="422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55E00"/>
                </a:solidFill>
                <a:latin typeface="Sarabun"/>
                <a:ea typeface="Sarabun"/>
                <a:cs typeface="Sarabun"/>
              </a:defRPr>
            </a:pPr>
            <a:r>
              <a:rPr sz="1500" b="1">
                <a:solidFill>
                  <a:srgbClr val="D55E00"/>
                </a:solidFill>
                <a:latin typeface="Sarabun"/>
                <a:ea typeface="Sarabun"/>
                <a:cs typeface="Sarabun"/>
              </a:rPr>
              <a:t>Uncoded 102.4 µs   |   Coded 314.88 µs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FF3AC-0B9C-4EAE-8DD2-580B2E53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8F7A0-D8F5-4FD1-89A6-3DC59D97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975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CCSDS Optical Space Communication Mini-Project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EBD279-5D75-4E78-8D15-F01365F5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975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109431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5F2DDC-B267-4406-A163-3F30636B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CC5DC-3737-447A-87B8-A676C656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2625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ช่องสัญญาณและการตรวจจับ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DA958-B35C-4FC7-8D05-779C91F0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1350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Poisson photon counting with unit-mean log-normal fading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AFC9E-3D69-4B00-ACF7-24FE5E87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1725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ON slot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8AD85-D5B1-4F7A-8096-712EE3A6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5B5"/>
                </a:solidFill>
                <a:latin typeface="Sarabun"/>
                <a:ea typeface="Sarabun"/>
                <a:cs typeface="Sarabun"/>
              </a:defRPr>
            </a:pPr>
            <a:r>
              <a:rPr sz="2325" b="1">
                <a:solidFill>
                  <a:srgbClr val="2F75B5"/>
                </a:solidFill>
                <a:latin typeface="Sarabun"/>
                <a:ea typeface="Sarabun"/>
                <a:cs typeface="Sarabun"/>
              </a:rPr>
              <a:t>λON = Nb + NsH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C3B92-7BAD-4C34-8B86-E88EDE10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200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1725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OFF / guard slot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D1C8A-8779-473C-943A-629A8894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621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8B8D"/>
                </a:solidFill>
                <a:latin typeface="Sarabun"/>
                <a:ea typeface="Sarabun"/>
                <a:cs typeface="Sarabun"/>
              </a:defRPr>
            </a:pPr>
            <a:r>
              <a:rPr sz="2325" b="1">
                <a:solidFill>
                  <a:srgbClr val="0F8B8D"/>
                </a:solidFill>
                <a:latin typeface="Sarabun"/>
                <a:ea typeface="Sarabun"/>
                <a:cs typeface="Sarabun"/>
              </a:rPr>
              <a:t>λOFF = Nb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C5F8D-E9E0-4A01-B7F9-D4ECCB59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38250"/>
            <a:ext cx="5010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  <a:r>
              <a:rPr sz="1800" b="0">
                <a:solidFill>
                  <a:srgbClr val="1F2937"/>
                </a:solidFill>
                <a:latin typeface="Sarabun"/>
                <a:ea typeface="Sarabun"/>
                <a:cs typeface="Sarabun"/>
              </a:rPr>
              <a:t>Receiver เลือก data slot ที่มี photon count สูงสุด และสุ่มเฉพาะกรณี tie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745a893e54e12"/>
          <a:stretch xmlns:a="http://schemas.openxmlformats.org/drawingml/2006/main"/>
        </p:blipFill>
        <p:spPr>
          <a:xfrm xmlns:a="http://schemas.openxmlformats.org/drawingml/2006/main">
            <a:off x="685800" y="2472170"/>
            <a:ext cx="5219700" cy="2847109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da70eb31e4e90"/>
          <a:stretch xmlns:a="http://schemas.openxmlformats.org/drawingml/2006/main"/>
        </p:blipFill>
        <p:spPr>
          <a:xfrm xmlns:a="http://schemas.openxmlformats.org/drawingml/2006/main">
            <a:off x="6286500" y="2870427"/>
            <a:ext cx="5219700" cy="2050596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E0F881-040E-4A7B-8598-0921E7A1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1275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Photon-count histogram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F9B3A-1FB4-4984-8082-10B52079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2450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1275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Illustrative eye diagram, no receiver filter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31817-34C7-4D61-989C-8732036E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FD632-6D7C-4EA3-BE5F-27BF4373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975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CCSDS Optical Space Communication Mini-Project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9E496B-059E-44E5-83A1-09FBAC79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975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854701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297E9-8874-4F93-B628-2523114A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24246-C55E-4D3E-AEFD-ED4DE3B5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2625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การตรวจสอบ End-to-End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C5BF0-D469-4A34-89F4-9BC6B663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1350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Input HI, seed 2026, Ns=5, Nb=0.1, sigma_ln=0.4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a88293c584322"/>
          <a:stretch xmlns:a="http://schemas.openxmlformats.org/drawingml/2006/main"/>
        </p:blipFill>
        <p:spPr>
          <a:xfrm xmlns:a="http://schemas.openxmlformats.org/drawingml/2006/main">
            <a:off x="1255395" y="1162050"/>
            <a:ext cx="6614160" cy="47244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D309B-FCB0-4F21-AFCD-55699018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3144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1875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ผลหนึ่งเฟรม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215AD-BE8F-4B7B-B45C-EE152409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7DEE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F75B5"/>
                </a:solidFill>
                <a:latin typeface="Sarabun"/>
                <a:ea typeface="Sarabun"/>
                <a:cs typeface="Sarabun"/>
              </a:defRPr>
            </a:pPr>
            <a:r>
              <a:rPr sz="4050" b="1">
                <a:solidFill>
                  <a:srgbClr val="2F75B5"/>
                </a:solidFill>
                <a:latin typeface="Sarabun"/>
                <a:ea typeface="Sarabun"/>
                <a:cs typeface="Sarabun"/>
              </a:rPr>
              <a:t>HI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ED8DA-6937-4960-9612-68D1D191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1350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Input = Recovered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6D0FA-CC38-4B2E-B6B7-C1786E13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43250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D55E00"/>
                </a:solidFill>
                <a:latin typeface="Sarabun"/>
                <a:ea typeface="Sarabun"/>
                <a:cs typeface="Sarabun"/>
              </a:defRPr>
            </a:pPr>
            <a:r>
              <a:rPr sz="3300" b="1">
                <a:solidFill>
                  <a:srgbClr val="D55E00"/>
                </a:solidFill>
                <a:latin typeface="Sarabun"/>
                <a:ea typeface="Sarabun"/>
                <a:cs typeface="Sarabun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D873D-EEF6-463C-B997-8219348A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051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  <a:r>
              <a:rPr sz="1350" b="0">
                <a:solidFill>
                  <a:srgbClr val="1F2937"/>
                </a:solidFill>
                <a:latin typeface="Sarabun"/>
                <a:ea typeface="Sarabun"/>
                <a:cs typeface="Sarabun"/>
              </a:rPr>
              <a:t>bit errors</a:t>
            </a:r>
          </a:p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  <a:r>
              <a:rPr sz="1350" b="0">
                <a:solidFill>
                  <a:srgbClr val="1F2937"/>
                </a:solidFill>
                <a:latin typeface="Sarabun"/>
                <a:ea typeface="Sarabun"/>
                <a:cs typeface="Sarabun"/>
              </a:rPr>
              <a:t>before Viterbi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225D8-A5CA-49B8-932F-B807E89F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38600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F8B8D"/>
                </a:solidFill>
                <a:latin typeface="Sarabun"/>
                <a:ea typeface="Sarabun"/>
                <a:cs typeface="Sarabun"/>
              </a:defRPr>
            </a:pPr>
            <a:r>
              <a:rPr sz="3300" b="1">
                <a:solidFill>
                  <a:srgbClr val="0F8B8D"/>
                </a:solidFill>
                <a:latin typeface="Sarabun"/>
                <a:ea typeface="Sarabun"/>
                <a:cs typeface="Sarabun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4B5A28-CA81-4027-A684-80F4E9FB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00050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  <a:r>
              <a:rPr sz="1350" b="0">
                <a:solidFill>
                  <a:srgbClr val="1F2937"/>
                </a:solidFill>
                <a:latin typeface="Sarabun"/>
                <a:ea typeface="Sarabun"/>
                <a:cs typeface="Sarabun"/>
              </a:rPr>
              <a:t>payload errors</a:t>
            </a:r>
          </a:p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  <a:r>
              <a:rPr sz="1350" b="0">
                <a:solidFill>
                  <a:srgbClr val="1F2937"/>
                </a:solidFill>
                <a:latin typeface="Sarabun"/>
                <a:ea typeface="Sarabun"/>
                <a:cs typeface="Sarabun"/>
              </a:rPr>
              <a:t>after Viterbi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5BF36-BA21-496A-9BA3-26AF3598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673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arabun"/>
                <a:ea typeface="Sarabun"/>
                <a:cs typeface="Sarabun"/>
              </a:defRPr>
            </a:pPr>
            <a:r>
              <a:rPr sz="1950" b="1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CRC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D7CB8-732F-47ED-BAC7-F26F36A3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715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1200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ตัวอย่างหนึ่งเฟรม ไม่ใช่ค่าเฉลี่ย BER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C92E7A-A672-4301-AB2C-56736D16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739C3-E18B-484A-B1EB-D0CFCCF9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975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CCSDS Optical Space Communication Mini-Project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074B06-2CCC-4FAE-88D3-FCEE2E78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975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596418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D8E7C-BD5D-4AD2-9845-20169F52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A8148-E7EC-4E97-BF8A-8FB68DB8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2625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ECC ลด BER แต่เพิ่มเวลาและพลังงานต่อ payload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CAFCD-2B1C-466B-9197-DB8B9749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1350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Monte Carlo 50,000 frames per point, Nb=0.1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09600" y="1200150"/>
          <a:ext xmlns:a="http://schemas.openxmlformats.org/drawingml/2006/main" cx="75247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935a2d0bc6407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63ABA-9496-4CBA-8CAF-A13486A7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38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1800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Ns =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FC9E0-B56A-416F-AB3C-46577B5C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335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F75B5"/>
                </a:solidFill>
                <a:latin typeface="Sarabun"/>
                <a:ea typeface="Sarabun"/>
                <a:cs typeface="Sarabun"/>
              </a:defRPr>
            </a:pPr>
            <a:r>
              <a:rPr sz="4050" b="1">
                <a:solidFill>
                  <a:srgbClr val="2F75B5"/>
                </a:solidFill>
                <a:latin typeface="Sarabun"/>
                <a:ea typeface="Sarabun"/>
                <a:cs typeface="Sarabun"/>
              </a:rPr>
              <a:t>170×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3D6C8-B499-4B08-B92B-A8749978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193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  <a:r>
              <a:rPr sz="1500" b="0">
                <a:solidFill>
                  <a:srgbClr val="1F2937"/>
                </a:solidFill>
                <a:latin typeface="Sarabun"/>
                <a:ea typeface="Sarabun"/>
                <a:cs typeface="Sarabun"/>
              </a:rPr>
              <a:t>BER reduction</a:t>
            </a:r>
          </a:p>
          <a:p xmlns:a="http://schemas.openxmlformats.org/drawingml/2006/main">
            <a:pPr algn="ctr">
              <a:defRPr sz="1500" b="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  <a:r>
              <a:rPr sz="1500" b="0">
                <a:solidFill>
                  <a:srgbClr val="1F2937"/>
                </a:solidFill>
                <a:latin typeface="Sarabun"/>
                <a:ea typeface="Sarabun"/>
                <a:cs typeface="Sarabun"/>
              </a:rPr>
              <a:t>Poisson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4F190-83C7-4517-98F0-995D5329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7660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F8B8D"/>
                </a:solidFill>
                <a:latin typeface="Sarabun"/>
                <a:ea typeface="Sarabun"/>
                <a:cs typeface="Sarabun"/>
              </a:defRPr>
            </a:pPr>
            <a:r>
              <a:rPr sz="3600" b="1">
                <a:solidFill>
                  <a:srgbClr val="0F8B8D"/>
                </a:solidFill>
                <a:latin typeface="Sarabun"/>
                <a:ea typeface="Sarabun"/>
                <a:cs typeface="Sarabun"/>
              </a:rPr>
              <a:t>6.52×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54CC7-F37B-46E8-9ABA-D5E3D72D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6240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  <a:r>
              <a:rPr sz="1500" b="0">
                <a:solidFill>
                  <a:srgbClr val="1F2937"/>
                </a:solidFill>
                <a:latin typeface="Sarabun"/>
                <a:ea typeface="Sarabun"/>
                <a:cs typeface="Sarabun"/>
              </a:rPr>
              <a:t>BER reduction</a:t>
            </a:r>
          </a:p>
          <a:p xmlns:a="http://schemas.openxmlformats.org/drawingml/2006/main">
            <a:pPr algn="ctr">
              <a:defRPr sz="1500" b="0">
                <a:solidFill>
                  <a:srgbClr val="1F2937"/>
                </a:solidFill>
                <a:latin typeface="Sarabun"/>
                <a:ea typeface="Sarabun"/>
                <a:cs typeface="Sarabun"/>
              </a:defRPr>
            </a:pPr>
            <a:r>
              <a:rPr sz="1500" b="0">
                <a:solidFill>
                  <a:srgbClr val="1F2937"/>
                </a:solidFill>
                <a:latin typeface="Sarabun"/>
                <a:ea typeface="Sarabun"/>
                <a:cs typeface="Sarabun"/>
              </a:rPr>
              <a:t>with turbulence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7F699-F12E-46A8-93F3-03F60862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95850"/>
            <a:ext cx="2647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55E00"/>
                </a:solidFill>
                <a:latin typeface="Sarabun"/>
                <a:ea typeface="Sarabun"/>
                <a:cs typeface="Sarabun"/>
              </a:defRPr>
            </a:pPr>
            <a:r>
              <a:rPr sz="1575" b="1">
                <a:solidFill>
                  <a:srgbClr val="D55E00"/>
                </a:solidFill>
                <a:latin typeface="Sarabun"/>
                <a:ea typeface="Sarabun"/>
                <a:cs typeface="Sarabun"/>
              </a:rPr>
              <a:t>Coded frame 3.075× longer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31836-C74A-4F1D-AAB5-C4C05F9C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10200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8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1200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Same Ns per pulse, not energy-normalized coding gain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674CFF-0A33-485C-9BFB-19495A8B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F0BE4-C949-45D0-B9CE-CE48819D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975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CCSDS Optical Space Communication Mini-Project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F0BE0-C06A-48DE-B3A2-4AC86FBB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975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331831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42C2B-A925-42B5-A200-2A64389C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68DE2-2E9E-4533-9328-5CEB326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2625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Background และ turbulence ทำให้ BER สูงขึ้น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EB4ED-A995-447F-AB49-0E48701D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1350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Uncoded baseline at Ns=5 isolates the channel effect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14350" y="1295400"/>
          <a:ext xmlns:a="http://schemas.openxmlformats.org/drawingml/2006/main" cx="5314950" cy="3276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15acb821ec4d6e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362700" y="1295400"/>
          <a:ext xmlns:a="http://schemas.openxmlformats.org/drawingml/2006/main" cx="5314950" cy="3276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9ba66bc80d49c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52CA2-EBC3-48FE-B5F7-2C2FEDAD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55E00"/>
                </a:solidFill>
                <a:latin typeface="Sarabun"/>
                <a:ea typeface="Sarabun"/>
                <a:cs typeface="Sarabun"/>
              </a:defRPr>
            </a:pPr>
            <a:r>
              <a:rPr sz="1650" b="1">
                <a:solidFill>
                  <a:srgbClr val="D55E00"/>
                </a:solidFill>
                <a:latin typeface="Sarabun"/>
                <a:ea typeface="Sarabun"/>
                <a:cs typeface="Sarabun"/>
              </a:rPr>
              <a:t>Background เพิ่มการแข่งขันจาก OFF slots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0A09C-30E7-4E5D-9F24-CAF036F2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625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8B8D"/>
                </a:solidFill>
                <a:latin typeface="Sarabun"/>
                <a:ea typeface="Sarabun"/>
                <a:cs typeface="Sarabun"/>
              </a:defRPr>
            </a:pPr>
            <a:r>
              <a:rPr sz="1650" b="1">
                <a:solidFill>
                  <a:srgbClr val="0F8B8D"/>
                </a:solidFill>
                <a:latin typeface="Sarabun"/>
                <a:ea typeface="Sarabun"/>
                <a:cs typeface="Sarabun"/>
              </a:rPr>
              <a:t>Turbulence ทำให้เกิด deep fades บ่อยขึ้น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BF84D-E3DF-46AF-A359-A4AC6B0E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48300"/>
            <a:ext cx="9182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7DEE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1575" b="0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ข้อจำกัด: one fading coefficient per frame, ideal timing, no pointing loss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5A061-26DE-4CCE-9419-62181DD9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109FE-6C44-4774-A3F9-0A575E54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975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CCSDS Optical Space Communication Mini-Project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5B064-86F5-4278-A593-DDCFEF78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975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809864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A0A194-0D19-47AA-84C5-F7C5E7A4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55EA6-2592-49C0-97D4-7DEAD3C4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2625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บทสรุป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4A88A-70EC-4AC7-AAF8-7FCACB16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1350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What the mini-project demonstrates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57372-3720-4BC6-AA73-7D1F1C6A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71600"/>
            <a:ext cx="781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F75B5"/>
                </a:solidFill>
                <a:latin typeface="Sarabun"/>
                <a:ea typeface="Sarabun"/>
                <a:cs typeface="Sarabun"/>
              </a:defRPr>
            </a:pPr>
            <a:r>
              <a:rPr sz="3000" b="1">
                <a:solidFill>
                  <a:srgbClr val="2F75B5"/>
                </a:solidFill>
                <a:latin typeface="Sarabun"/>
                <a:ea typeface="Sarabun"/>
                <a:cs typeface="Sarabun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94BFA-6066-458E-A104-9E2C656D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3525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2325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ระบบกู้คืน ASCII ได้ครบทั้งเส้นทาง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C0867-7C30-42FB-B806-FDD3EF36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240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1575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Framing, ECC, 4-PPM, channel, detection, CRC และ message recovery ทำงานต่อเนื่องกัน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18BF1-AF50-416E-85BA-D62C468C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9F679-87A9-40EE-98BF-58E40221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781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F8B8D"/>
                </a:solidFill>
                <a:latin typeface="Sarabun"/>
                <a:ea typeface="Sarabun"/>
                <a:cs typeface="Sarabun"/>
              </a:defRPr>
            </a:pPr>
            <a:r>
              <a:rPr sz="3000" b="1">
                <a:solidFill>
                  <a:srgbClr val="0F8B8D"/>
                </a:solidFill>
                <a:latin typeface="Sarabun"/>
                <a:ea typeface="Sarabun"/>
                <a:cs typeface="Sarabun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D7B67-5C0B-45CC-9F7B-E1F7342F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956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2325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Convolutional ECC ลด BER ได้ชัดเจน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F1248-3EB7-445D-B299-46D1D2C6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671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1575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ผลดีมาพร้อม coded frame ที่ยาวขึ้นและใช้พัลส์ต่อ payload มากขึ้น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3F6F8-2B2E-4190-B102-7E92D0A1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09A14-77CA-4F96-9B7B-FB537AFD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781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55E00"/>
                </a:solidFill>
                <a:latin typeface="Sarabun"/>
                <a:ea typeface="Sarabun"/>
                <a:cs typeface="Sarabun"/>
              </a:defRPr>
            </a:pPr>
            <a:r>
              <a:rPr sz="3000" b="1">
                <a:solidFill>
                  <a:srgbClr val="D55E00"/>
                </a:solidFill>
                <a:latin typeface="Sarabun"/>
                <a:ea typeface="Sarabun"/>
                <a:cs typeface="Sarabun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D7AD0-B815-46C5-8510-F5927F01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65D"/>
                </a:solidFill>
                <a:latin typeface="Sarabun"/>
                <a:ea typeface="Sarabun"/>
                <a:cs typeface="Sarabun"/>
              </a:defRPr>
            </a:pPr>
            <a:r>
              <a:rPr sz="2325" b="1">
                <a:solidFill>
                  <a:srgbClr val="17365D"/>
                </a:solidFill>
                <a:latin typeface="Sarabun"/>
                <a:ea typeface="Sarabun"/>
                <a:cs typeface="Sarabun"/>
              </a:rPr>
              <a:t>ขอบเขตเหมาะกับ Mini-Project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87AC0-79B1-494A-9D07-A35BC4CF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101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1575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การพัฒนาต่อควรเพิ่ม SCPPM chain, soft decoding, synchronization และ energy-normalized comparison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6359B5-A8CB-474F-9D34-6D88FE31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1125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References: CCSDS 141.0-B-2, CCSDS 142.0-B-2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EDDC4-0B3D-4008-B1D5-21DC11AB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9245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F75B5"/>
                </a:solidFill>
                <a:latin typeface="Sarabun"/>
                <a:ea typeface="Sarabun"/>
                <a:cs typeface="Sarabun"/>
              </a:defRPr>
            </a:pPr>
            <a:r>
              <a:rPr sz="1050" b="0">
                <a:solidFill>
                  <a:srgbClr val="2F75B5"/>
                </a:solidFill>
                <a:latin typeface="Sarabun"/>
                <a:ea typeface="Sarabun"/>
                <a:cs typeface="Sarabun"/>
              </a:rPr>
              <a:t>github.com/phoomkit/CCSDS-Optical-Space-Communication-ASCII-Simulation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2915D5-6B2F-4CB7-807B-634C73C9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BE6001-71BD-4988-B724-4397F5B2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975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CCSDS Optical Space Communication Mini-Project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7E8E27-B83C-4DA5-942A-401DD3F8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Sarabun"/>
                <a:ea typeface="Sarabun"/>
                <a:cs typeface="Sarabun"/>
              </a:defRPr>
            </a:pPr>
            <a:r>
              <a:rPr sz="975" b="0">
                <a:solidFill>
                  <a:srgbClr val="5B6573"/>
                </a:solidFill>
                <a:latin typeface="Sarabun"/>
                <a:ea typeface="Sarabun"/>
                <a:cs typeface="Sarabun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95312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2026-10-04T14:28:10.4420000Z</dcterms:created>
  <dcterms:modified xsi:type="dcterms:W3CDTF">2026-10-04T14:28:10.4420000Z</dcterms:modified>
</coreProperties>
</file>